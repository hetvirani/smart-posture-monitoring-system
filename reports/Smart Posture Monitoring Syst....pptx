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9" r:id="rId3"/>
    <p:sldId id="258" r:id="rId4"/>
    <p:sldId id="267" r:id="rId5"/>
    <p:sldId id="275" r:id="rId6"/>
    <p:sldId id="269" r:id="rId7"/>
    <p:sldId id="276" r:id="rId8"/>
    <p:sldId id="280" r:id="rId9"/>
    <p:sldId id="281" r:id="rId10"/>
    <p:sldId id="271" r:id="rId11"/>
    <p:sldId id="282" r:id="rId12"/>
    <p:sldId id="273" r:id="rId13"/>
    <p:sldId id="283" r:id="rId14"/>
    <p:sldId id="278" r:id="rId15"/>
    <p:sldId id="279" r:id="rId16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792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544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91D87-AA21-90CE-F73D-D57AB4E75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CCD0ED-D11B-A99D-C8D5-91CD169D4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E1DBE4-4C55-69C3-DC3A-67F475389F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54235D-F3E2-DE70-CE46-6FDF0EB54C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138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582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2322576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358" y="4450241"/>
            <a:ext cx="13267944" cy="27432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685800" y="5650992"/>
            <a:ext cx="2816352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680"/>
              </a:lnSpc>
              <a:buNone/>
            </a:pPr>
            <a:r>
              <a:rPr lang="en-US" sz="1920" dirty="0">
                <a:solidFill>
                  <a:srgbClr val="222770"/>
                </a:solidFill>
                <a:latin typeface="Playfair Display Bold" panose="00000800000000000000" pitchFamily="2" charset="0"/>
                <a:ea typeface="Arial-Regular" pitchFamily="34" charset="-122"/>
                <a:cs typeface="Arial-Regular" pitchFamily="34" charset="-120"/>
              </a:rPr>
              <a:t>Dilon Brahmbhatt (22BIT236D)</a:t>
            </a:r>
          </a:p>
          <a:p>
            <a:pPr marL="0" indent="0" algn="l">
              <a:lnSpc>
                <a:spcPts val="2680"/>
              </a:lnSpc>
              <a:buNone/>
            </a:pPr>
            <a:r>
              <a:rPr lang="en-US" sz="1920" dirty="0">
                <a:solidFill>
                  <a:srgbClr val="222770"/>
                </a:solidFill>
                <a:latin typeface="Playfair Display Bold" panose="00000800000000000000" pitchFamily="2" charset="0"/>
                <a:ea typeface="Arial-Regular" pitchFamily="34" charset="-122"/>
              </a:rPr>
              <a:t>Het Virani (22BIT252D)</a:t>
            </a:r>
          </a:p>
          <a:p>
            <a:pPr marL="0" indent="0" algn="l">
              <a:lnSpc>
                <a:spcPts val="2680"/>
              </a:lnSpc>
              <a:buNone/>
            </a:pPr>
            <a:endParaRPr lang="en-US" sz="1920" dirty="0">
              <a:solidFill>
                <a:srgbClr val="222770"/>
              </a:solidFill>
              <a:latin typeface="Playfair Display Bold" panose="00000800000000000000" pitchFamily="2" charset="0"/>
              <a:ea typeface="Arial-Regular" pitchFamily="34" charset="-122"/>
            </a:endParaRPr>
          </a:p>
          <a:p>
            <a:pPr marL="0" indent="0" algn="l">
              <a:lnSpc>
                <a:spcPts val="2680"/>
              </a:lnSpc>
              <a:buNone/>
            </a:pPr>
            <a:r>
              <a:rPr lang="en-US" sz="1920" dirty="0">
                <a:solidFill>
                  <a:srgbClr val="222770"/>
                </a:solidFill>
                <a:latin typeface="Playfair Display Bold" panose="00000800000000000000" pitchFamily="2" charset="0"/>
                <a:ea typeface="Arial-Regular" pitchFamily="34" charset="-122"/>
              </a:rPr>
              <a:t>Presented to : DR. Amit G Kumar &amp; DR. V VIKAS</a:t>
            </a:r>
            <a:endParaRPr lang="en-US" sz="1920" dirty="0">
              <a:latin typeface="Playfair Display Bold" panose="00000800000000000000" pitchFamily="2" charset="0"/>
            </a:endParaRPr>
          </a:p>
        </p:txBody>
      </p:sp>
      <p:sp>
        <p:nvSpPr>
          <p:cNvPr id="8" name="Text 2"/>
          <p:cNvSpPr/>
          <p:nvPr/>
        </p:nvSpPr>
        <p:spPr>
          <a:xfrm>
            <a:off x="517358" y="2784348"/>
            <a:ext cx="13267944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/>
              <a:t>Intelligent Detection of Body Posture</a:t>
            </a:r>
            <a:endParaRPr lang="en-IN" sz="5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685800" y="602541"/>
            <a:ext cx="8293608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370"/>
              </a:lnSpc>
              <a:buNone/>
            </a:pPr>
            <a:r>
              <a:rPr lang="en-US" sz="3840" dirty="0">
                <a:latin typeface="Playfair Display Bold" panose="00000800000000000000" pitchFamily="2" charset="0"/>
                <a:ea typeface="思源黑体-思源黑体-SemiBold" pitchFamily="34" charset="-122"/>
                <a:cs typeface="思源黑体-思源黑体-SemiBold" pitchFamily="34" charset="-120"/>
              </a:rPr>
              <a:t>Introduction and Motivation</a:t>
            </a:r>
            <a:endParaRPr lang="en-US" sz="3840" dirty="0">
              <a:latin typeface="Playfair Display Bold" panose="000008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7CD3BF-4B4A-9630-3521-ACD8CFC290A7}"/>
              </a:ext>
            </a:extLst>
          </p:cNvPr>
          <p:cNvSpPr txBox="1"/>
          <p:nvPr/>
        </p:nvSpPr>
        <p:spPr>
          <a:xfrm>
            <a:off x="685799" y="1498437"/>
            <a:ext cx="13752095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/>
              <a:t>Problem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Poor posture while sitting causes back pain, neck strain, and spinal issues.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Risk is higher for students and office workers who sit for long hours.</a:t>
            </a:r>
          </a:p>
          <a:p>
            <a:endParaRPr lang="en-US" sz="2400" dirty="0"/>
          </a:p>
          <a:p>
            <a:pPr>
              <a:buNone/>
            </a:pPr>
            <a:r>
              <a:rPr lang="en-US" sz="2400" dirty="0"/>
              <a:t>Statistics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80% of adults suffer from back pain at least once in their life.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Sedentary lifestyles make posture-related health problems very common.</a:t>
            </a:r>
          </a:p>
          <a:p>
            <a:endParaRPr lang="en-US" sz="2400" dirty="0"/>
          </a:p>
          <a:p>
            <a:pPr>
              <a:buNone/>
            </a:pPr>
            <a:r>
              <a:rPr lang="en-US" sz="2400" dirty="0"/>
              <a:t>Motivation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Existing methods (reminders, ergonomic chairs) are expensive or not real-time.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Users need instant alerts to correct posture before it causes harm.</a:t>
            </a:r>
          </a:p>
          <a:p>
            <a:endParaRPr lang="en-US" sz="2400" dirty="0"/>
          </a:p>
          <a:p>
            <a:pPr>
              <a:buNone/>
            </a:pPr>
            <a:r>
              <a:rPr lang="en-US" sz="2400" dirty="0"/>
              <a:t>Our Idea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Use Flex + Ultrasonic sensors on the chair to detect posture.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Process data with ESP8266 </a:t>
            </a:r>
            <a:r>
              <a:rPr lang="en-US" sz="2400" dirty="0" err="1"/>
              <a:t>WiFi</a:t>
            </a:r>
            <a:r>
              <a:rPr lang="en-US" sz="2400" dirty="0"/>
              <a:t> module.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Send real-time notifications via Blynk app to encourage healthy sitting habits.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43082"/>
            <a:ext cx="5670590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Project Objectives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005489"/>
            <a:ext cx="6407944" cy="2577108"/>
          </a:xfrm>
          <a:prstGeom prst="roundRect">
            <a:avLst>
              <a:gd name="adj" fmla="val 1320"/>
            </a:avLst>
          </a:prstGeom>
          <a:solidFill>
            <a:srgbClr val="E0E0EC"/>
          </a:solidFill>
        </p:spPr>
      </p:sp>
      <p:sp>
        <p:nvSpPr>
          <p:cNvPr id="4" name="Shape 2"/>
          <p:cNvSpPr/>
          <p:nvPr/>
        </p:nvSpPr>
        <p:spPr>
          <a:xfrm>
            <a:off x="1020604" y="223230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01014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770" y="2381131"/>
            <a:ext cx="306110" cy="38266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0604" y="3139559"/>
            <a:ext cx="3087053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Continuous Monitoring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0604" y="3629978"/>
            <a:ext cx="5954316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Deploy ultrasonic and flex sensors for real-time posture detection and analysis of sitting habits.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428548" y="2005489"/>
            <a:ext cx="6408063" cy="2577108"/>
          </a:xfrm>
          <a:prstGeom prst="roundRect">
            <a:avLst>
              <a:gd name="adj" fmla="val 1320"/>
            </a:avLst>
          </a:prstGeom>
          <a:solidFill>
            <a:srgbClr val="E0E0EC"/>
          </a:solidFill>
        </p:spPr>
      </p:sp>
      <p:sp>
        <p:nvSpPr>
          <p:cNvPr id="9" name="Shape 6"/>
          <p:cNvSpPr/>
          <p:nvPr/>
        </p:nvSpPr>
        <p:spPr>
          <a:xfrm>
            <a:off x="7655362" y="223230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01014"/>
          </a:solidFill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2528" y="2381131"/>
            <a:ext cx="306110" cy="38266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55362" y="3139559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Instant Feedback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7655362" y="3629978"/>
            <a:ext cx="595443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Deliver immediate alerts via email and mobile notifications to encourage posture correction.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793790" y="4809411"/>
            <a:ext cx="6407944" cy="2577108"/>
          </a:xfrm>
          <a:prstGeom prst="roundRect">
            <a:avLst>
              <a:gd name="adj" fmla="val 1320"/>
            </a:avLst>
          </a:prstGeom>
          <a:solidFill>
            <a:srgbClr val="E0E0EC"/>
          </a:solidFill>
        </p:spPr>
      </p:sp>
      <p:sp>
        <p:nvSpPr>
          <p:cNvPr id="14" name="Shape 10"/>
          <p:cNvSpPr/>
          <p:nvPr/>
        </p:nvSpPr>
        <p:spPr>
          <a:xfrm>
            <a:off x="1020604" y="503622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01014"/>
          </a:solidFill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7770" y="5185053"/>
            <a:ext cx="306110" cy="38266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20604" y="5943481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Wireless Solution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1020604" y="6433899"/>
            <a:ext cx="5954316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Utilize ESP8266 microcontroller for seamless wireless communication and data processing.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428548" y="4809411"/>
            <a:ext cx="6408063" cy="2577108"/>
          </a:xfrm>
          <a:prstGeom prst="roundRect">
            <a:avLst>
              <a:gd name="adj" fmla="val 1320"/>
            </a:avLst>
          </a:prstGeom>
          <a:solidFill>
            <a:srgbClr val="E0E0EC"/>
          </a:solidFill>
        </p:spPr>
      </p:sp>
      <p:sp>
        <p:nvSpPr>
          <p:cNvPr id="19" name="Shape 14"/>
          <p:cNvSpPr/>
          <p:nvPr/>
        </p:nvSpPr>
        <p:spPr>
          <a:xfrm>
            <a:off x="7655362" y="503622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01014"/>
          </a:solidFill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2528" y="5185053"/>
            <a:ext cx="306110" cy="38266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55362" y="5943481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Portable Design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7655362" y="6433899"/>
            <a:ext cx="595443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 an affordable, user-friendly system that adapts to various seating environments.</a:t>
            </a:r>
            <a:endParaRPr lang="en-US" sz="1750" dirty="0"/>
          </a:p>
        </p:txBody>
      </p:sp>
      <p:sp>
        <p:nvSpPr>
          <p:cNvPr id="23" name="Rectangles 22"/>
          <p:cNvSpPr/>
          <p:nvPr/>
        </p:nvSpPr>
        <p:spPr>
          <a:xfrm>
            <a:off x="12606655" y="7540625"/>
            <a:ext cx="1891030" cy="549910"/>
          </a:xfrm>
          <a:prstGeom prst="rect">
            <a:avLst/>
          </a:prstGeom>
          <a:solidFill>
            <a:srgbClr val="F3F3F7"/>
          </a:solidFill>
          <a:ln>
            <a:solidFill>
              <a:srgbClr val="F3F3F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sp>
        <p:nvSpPr>
          <p:cNvPr id="14" name="Text 0">
            <a:extLst>
              <a:ext uri="{FF2B5EF4-FFF2-40B4-BE49-F238E27FC236}">
                <a16:creationId xmlns:a16="http://schemas.microsoft.com/office/drawing/2014/main" id="{FA9B23B2-92D5-D6F5-B55D-30D9BBC581C2}"/>
              </a:ext>
            </a:extLst>
          </p:cNvPr>
          <p:cNvSpPr/>
          <p:nvPr/>
        </p:nvSpPr>
        <p:spPr>
          <a:xfrm>
            <a:off x="998326" y="759073"/>
            <a:ext cx="10094789" cy="14175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Literature Review &amp; Background Research</a:t>
            </a:r>
            <a:endParaRPr lang="en-US" sz="445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6164A1-27F5-3019-E31B-C7034B05D7CE}"/>
              </a:ext>
            </a:extLst>
          </p:cNvPr>
          <p:cNvSpPr txBox="1"/>
          <p:nvPr/>
        </p:nvSpPr>
        <p:spPr>
          <a:xfrm>
            <a:off x="998326" y="2743934"/>
            <a:ext cx="9516979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Existing Research on Posture Monitoring Systems</a:t>
            </a:r>
          </a:p>
          <a:p>
            <a:pPr>
              <a:buNone/>
            </a:pPr>
            <a:endParaRPr lang="en-IN" sz="2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Wearable Devices (e.g., posture-correcting vests with accelerometers)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/>
              <a:t>Real-time posture detection, portable.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/>
              <a:t>Limitations: Intrusive, uncomfortable for long-term use.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i="1" dirty="0"/>
              <a:t>Ref:</a:t>
            </a:r>
            <a:r>
              <a:rPr lang="en-IN" sz="2400" dirty="0"/>
              <a:t> Dunne et al., 2008.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Chair-Based Systems (pressure sensors + distance sensors)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/>
              <a:t>Non-intrusive, good accuracy.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/>
              <a:t>Limitations: Expensive, fixed installation.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i="1" dirty="0"/>
              <a:t>Ref:</a:t>
            </a:r>
            <a:r>
              <a:rPr lang="en-IN" sz="2400" dirty="0"/>
              <a:t> Jeong &amp; Park, 2020.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95F038B-AD58-F487-A090-3A6E4709F64A}"/>
              </a:ext>
            </a:extLst>
          </p:cNvPr>
          <p:cNvSpPr/>
          <p:nvPr/>
        </p:nvSpPr>
        <p:spPr>
          <a:xfrm>
            <a:off x="1311147" y="825630"/>
            <a:ext cx="7556421" cy="14175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Research Gaps &amp; Innovation Opportunities</a:t>
            </a:r>
            <a:endParaRPr lang="en-US" sz="445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E17433-393F-A0F6-85B0-4F216CC87B53}"/>
              </a:ext>
            </a:extLst>
          </p:cNvPr>
          <p:cNvSpPr txBox="1"/>
          <p:nvPr/>
        </p:nvSpPr>
        <p:spPr>
          <a:xfrm>
            <a:off x="1311147" y="2731128"/>
            <a:ext cx="1083390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Gaps in Existing Systems</a:t>
            </a:r>
            <a:endParaRPr lang="en-IN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Wearables (e.g., Dunne et al., 2008): Accurate but intrusive, not practical for daily use.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Smart chairs (e.g., Jeong &amp; Park, 2020): Good accuracy, noisy in real settings, and limited scalability. 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/>
              <a:t>Our Innovations</a:t>
            </a:r>
            <a:endParaRPr lang="en-IN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Low-cost, chair-mounted system using flex + ultrasonics on ESP8266 with noise filtering.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Scalable design: Expandable to 6 sensors + MPU6050 for motion tracking.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Blynk alerts + future cloud storage: Real-time feedback, long-term habit analysis, ergonomic insights.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AA90AE-8BBE-247F-B335-E30C6B4DC28D}"/>
              </a:ext>
            </a:extLst>
          </p:cNvPr>
          <p:cNvSpPr/>
          <p:nvPr/>
        </p:nvSpPr>
        <p:spPr>
          <a:xfrm>
            <a:off x="12570106" y="7720316"/>
            <a:ext cx="2060294" cy="4861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6557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sp>
        <p:nvSpPr>
          <p:cNvPr id="15" name="Text 0">
            <a:extLst>
              <a:ext uri="{FF2B5EF4-FFF2-40B4-BE49-F238E27FC236}">
                <a16:creationId xmlns:a16="http://schemas.microsoft.com/office/drawing/2014/main" id="{531AF280-DA6E-080B-0BAE-5B785B7C54AC}"/>
              </a:ext>
            </a:extLst>
          </p:cNvPr>
          <p:cNvSpPr/>
          <p:nvPr/>
        </p:nvSpPr>
        <p:spPr>
          <a:xfrm>
            <a:off x="793849" y="1760910"/>
            <a:ext cx="9453205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System Architecture &amp; Methodology</a:t>
            </a:r>
            <a:endParaRPr lang="en-US" sz="4450" dirty="0"/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6B93128B-CF78-8D11-FB01-EBC6E6E3371F}"/>
              </a:ext>
            </a:extLst>
          </p:cNvPr>
          <p:cNvSpPr/>
          <p:nvPr/>
        </p:nvSpPr>
        <p:spPr>
          <a:xfrm>
            <a:off x="793849" y="3154857"/>
            <a:ext cx="226814" cy="2834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Playfair Display Light" pitchFamily="34" charset="0"/>
                <a:ea typeface="Playfair Display Light" pitchFamily="34" charset="-122"/>
                <a:cs typeface="Playfair Display Light" pitchFamily="34" charset="-120"/>
              </a:rPr>
              <a:t>01</a:t>
            </a:r>
            <a:endParaRPr lang="en-US" sz="1750" dirty="0"/>
          </a:p>
        </p:txBody>
      </p:sp>
      <p:sp>
        <p:nvSpPr>
          <p:cNvPr id="17" name="Shape 2">
            <a:extLst>
              <a:ext uri="{FF2B5EF4-FFF2-40B4-BE49-F238E27FC236}">
                <a16:creationId xmlns:a16="http://schemas.microsoft.com/office/drawing/2014/main" id="{9138C8F4-5B58-8033-297D-BA933EE0681A}"/>
              </a:ext>
            </a:extLst>
          </p:cNvPr>
          <p:cNvSpPr/>
          <p:nvPr/>
        </p:nvSpPr>
        <p:spPr>
          <a:xfrm>
            <a:off x="793849" y="3509901"/>
            <a:ext cx="4196358" cy="30480"/>
          </a:xfrm>
          <a:prstGeom prst="rect">
            <a:avLst/>
          </a:prstGeom>
          <a:solidFill>
            <a:srgbClr val="101014"/>
          </a:solidFill>
        </p:spPr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47ADAB5C-37E6-405A-262E-3660D3B85A7B}"/>
              </a:ext>
            </a:extLst>
          </p:cNvPr>
          <p:cNvSpPr/>
          <p:nvPr/>
        </p:nvSpPr>
        <p:spPr>
          <a:xfrm>
            <a:off x="793849" y="3684209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Sensor Integration</a:t>
            </a:r>
            <a:endParaRPr lang="en-US" sz="2200" dirty="0"/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70AB8615-BF4D-19BE-0047-60CDA15EFA8D}"/>
              </a:ext>
            </a:extLst>
          </p:cNvPr>
          <p:cNvSpPr/>
          <p:nvPr/>
        </p:nvSpPr>
        <p:spPr>
          <a:xfrm>
            <a:off x="793849" y="4174627"/>
            <a:ext cx="4196358" cy="18145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 Ultrasonic sensors mounted on chair back detect distance variations, while 1 flex sensors monitor thoracic spine curvature for comprehensive posture analysis.</a:t>
            </a:r>
            <a:endParaRPr lang="en-US" sz="1750" dirty="0"/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33B4CDE7-13F5-D945-9A84-4396B8B938B1}"/>
              </a:ext>
            </a:extLst>
          </p:cNvPr>
          <p:cNvSpPr/>
          <p:nvPr/>
        </p:nvSpPr>
        <p:spPr>
          <a:xfrm>
            <a:off x="5217021" y="3154857"/>
            <a:ext cx="226814" cy="2834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Playfair Display Light" pitchFamily="34" charset="0"/>
                <a:ea typeface="Playfair Display Light" pitchFamily="34" charset="-122"/>
                <a:cs typeface="Playfair Display Light" pitchFamily="34" charset="-120"/>
              </a:rPr>
              <a:t>02</a:t>
            </a:r>
            <a:endParaRPr lang="en-US" sz="1750" dirty="0"/>
          </a:p>
        </p:txBody>
      </p:sp>
      <p:sp>
        <p:nvSpPr>
          <p:cNvPr id="21" name="Shape 6">
            <a:extLst>
              <a:ext uri="{FF2B5EF4-FFF2-40B4-BE49-F238E27FC236}">
                <a16:creationId xmlns:a16="http://schemas.microsoft.com/office/drawing/2014/main" id="{C171DF96-ADD7-42A3-F701-79254FD533C7}"/>
              </a:ext>
            </a:extLst>
          </p:cNvPr>
          <p:cNvSpPr/>
          <p:nvPr/>
        </p:nvSpPr>
        <p:spPr>
          <a:xfrm>
            <a:off x="5217021" y="3509901"/>
            <a:ext cx="4196358" cy="30480"/>
          </a:xfrm>
          <a:prstGeom prst="rect">
            <a:avLst/>
          </a:prstGeom>
          <a:solidFill>
            <a:srgbClr val="101014"/>
          </a:solidFill>
        </p:spPr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8572297D-232C-146F-937D-5CA26834ECC9}"/>
              </a:ext>
            </a:extLst>
          </p:cNvPr>
          <p:cNvSpPr/>
          <p:nvPr/>
        </p:nvSpPr>
        <p:spPr>
          <a:xfrm>
            <a:off x="5217021" y="3684209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Data Processing</a:t>
            </a:r>
            <a:endParaRPr lang="en-US" sz="2200" dirty="0"/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2DF4B072-3268-6504-9928-9CF8E2AC59AA}"/>
              </a:ext>
            </a:extLst>
          </p:cNvPr>
          <p:cNvSpPr/>
          <p:nvPr/>
        </p:nvSpPr>
        <p:spPr>
          <a:xfrm>
            <a:off x="5217021" y="4174627"/>
            <a:ext cx="4196358" cy="14516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ESP8266 microcontroller applies noise reduction filters and processes sensor values using calibrated thresholds for accurate posture classification.</a:t>
            </a:r>
            <a:endParaRPr lang="en-US" sz="1750" dirty="0"/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A953C9FD-1460-0FDB-F890-7001BF861A1F}"/>
              </a:ext>
            </a:extLst>
          </p:cNvPr>
          <p:cNvSpPr/>
          <p:nvPr/>
        </p:nvSpPr>
        <p:spPr>
          <a:xfrm>
            <a:off x="9640192" y="3154857"/>
            <a:ext cx="226814" cy="2834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Playfair Display Light" pitchFamily="34" charset="0"/>
                <a:ea typeface="Playfair Display Light" pitchFamily="34" charset="-122"/>
                <a:cs typeface="Playfair Display Light" pitchFamily="34" charset="-120"/>
              </a:rPr>
              <a:t>03</a:t>
            </a:r>
            <a:endParaRPr lang="en-US" sz="1750" dirty="0"/>
          </a:p>
        </p:txBody>
      </p:sp>
      <p:sp>
        <p:nvSpPr>
          <p:cNvPr id="25" name="Shape 10">
            <a:extLst>
              <a:ext uri="{FF2B5EF4-FFF2-40B4-BE49-F238E27FC236}">
                <a16:creationId xmlns:a16="http://schemas.microsoft.com/office/drawing/2014/main" id="{EAC611E3-E544-14AE-891B-4898DE2090E1}"/>
              </a:ext>
            </a:extLst>
          </p:cNvPr>
          <p:cNvSpPr/>
          <p:nvPr/>
        </p:nvSpPr>
        <p:spPr>
          <a:xfrm>
            <a:off x="9640192" y="3509901"/>
            <a:ext cx="4196358" cy="30480"/>
          </a:xfrm>
          <a:prstGeom prst="rect">
            <a:avLst/>
          </a:prstGeom>
          <a:solidFill>
            <a:srgbClr val="101014"/>
          </a:solidFill>
        </p:spPr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BBEFDB09-9F2B-6591-577A-A174FAA8CE9A}"/>
              </a:ext>
            </a:extLst>
          </p:cNvPr>
          <p:cNvSpPr/>
          <p:nvPr/>
        </p:nvSpPr>
        <p:spPr>
          <a:xfrm>
            <a:off x="9640192" y="3684209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Alert Generation</a:t>
            </a:r>
            <a:endParaRPr lang="en-US" sz="2200" dirty="0"/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174549A3-9B5C-75C4-EE04-A0E12FF836B4}"/>
              </a:ext>
            </a:extLst>
          </p:cNvPr>
          <p:cNvSpPr/>
          <p:nvPr/>
        </p:nvSpPr>
        <p:spPr>
          <a:xfrm>
            <a:off x="9640192" y="4174627"/>
            <a:ext cx="4196358" cy="18145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Real-time notifications sent through Blynk platform via Wi-Fi, delivering instant email and mobile alerts to encourage immediate posture correction.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6C696C-82A5-F54C-7192-278776A69BBE}"/>
              </a:ext>
            </a:extLst>
          </p:cNvPr>
          <p:cNvSpPr txBox="1"/>
          <p:nvPr/>
        </p:nvSpPr>
        <p:spPr>
          <a:xfrm>
            <a:off x="902825" y="1202476"/>
            <a:ext cx="8843058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Work Done</a:t>
            </a:r>
          </a:p>
          <a:p>
            <a:pPr>
              <a:buNone/>
            </a:pPr>
            <a:endParaRPr lang="en-IN" sz="2400" b="1" dirty="0"/>
          </a:p>
          <a:p>
            <a:pPr>
              <a:buNone/>
            </a:pPr>
            <a:r>
              <a:rPr lang="en-IN" sz="2400" b="1" dirty="0"/>
              <a:t>Hardware Setup</a:t>
            </a:r>
            <a:endParaRPr lang="en-IN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ESP8266 with: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/>
              <a:t>Flex Sensor → ADC pin A0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/>
              <a:t>Ultrasonic Sensors → GPIO 12, 14, 13, 15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/>
              <a:t>LM2596 Boost Converter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sz="2400" dirty="0"/>
          </a:p>
          <a:p>
            <a:pPr lvl="3"/>
            <a:endParaRPr lang="en-IN" sz="2400" b="1" dirty="0"/>
          </a:p>
          <a:p>
            <a:pPr lvl="3"/>
            <a:endParaRPr lang="en-IN" sz="2400" b="1" dirty="0"/>
          </a:p>
          <a:p>
            <a:pPr lvl="3"/>
            <a:r>
              <a:rPr lang="en-IN" sz="2400" b="1" dirty="0"/>
              <a:t>Software Implementation</a:t>
            </a:r>
            <a:endParaRPr lang="en-IN" sz="2400" dirty="0"/>
          </a:p>
          <a:p>
            <a:pPr lvl="3">
              <a:buFont typeface="Arial" panose="020B0604020202020204" pitchFamily="34" charset="0"/>
              <a:buChar char="•"/>
            </a:pPr>
            <a:r>
              <a:rPr lang="en-IN" sz="2400" dirty="0"/>
              <a:t>5-sample averaging for noise reduction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IN" sz="2400" dirty="0"/>
              <a:t>Flex sensor value mapping: 275 - average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IN" sz="2400" dirty="0"/>
              <a:t>Ultrasonic difference calculation for posture detection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IN" sz="2400" dirty="0"/>
              <a:t>Decision tree classification (placeholder logic)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IN" sz="2400" dirty="0" err="1"/>
              <a:t>WiFi</a:t>
            </a:r>
            <a:r>
              <a:rPr lang="en-IN" sz="2400" dirty="0"/>
              <a:t> connection to Blynk with authentication token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6A022B5-E794-8A7F-34D2-431738B349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8153" y="201249"/>
            <a:ext cx="6130290" cy="3448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187A002-9EBF-B3A2-B2A7-A6DB37FA00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273"/>
          <a:stretch>
            <a:fillRect/>
          </a:stretch>
        </p:blipFill>
        <p:spPr bwMode="auto">
          <a:xfrm>
            <a:off x="10893835" y="3833715"/>
            <a:ext cx="3632123" cy="42809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612495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D50AE6CB-7BBF-4234-8198-6605DDAF9A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8990" y="1944547"/>
            <a:ext cx="9496835" cy="5672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7BD3E46-598D-7176-EC56-C7A9E67C4D92}"/>
              </a:ext>
            </a:extLst>
          </p:cNvPr>
          <p:cNvSpPr txBox="1"/>
          <p:nvPr/>
        </p:nvSpPr>
        <p:spPr>
          <a:xfrm>
            <a:off x="767846" y="439114"/>
            <a:ext cx="1005448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Decision Tree (Used for Posture Classification)</a:t>
            </a:r>
          </a:p>
          <a:p>
            <a:r>
              <a:rPr lang="en-IN" b="1" dirty="0"/>
              <a:t>What is Decision Tree?</a:t>
            </a:r>
            <a:br>
              <a:rPr lang="en-IN" dirty="0"/>
            </a:br>
            <a:r>
              <a:rPr lang="en-IN" dirty="0"/>
              <a:t>A supervised machine learning model that makes decisions using a tree-like structure of </a:t>
            </a:r>
            <a:r>
              <a:rPr lang="en-IN" b="1" dirty="0"/>
              <a:t>if–else rules</a:t>
            </a:r>
            <a:r>
              <a:rPr lang="en-IN" dirty="0"/>
              <a:t>. It splits data based on feature thresholds until it reaches a classification result.</a:t>
            </a:r>
          </a:p>
          <a:p>
            <a:br>
              <a:rPr lang="en-IN" dirty="0"/>
            </a:br>
            <a:endParaRPr lang="en-IN" dirty="0"/>
          </a:p>
          <a:p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FE24C5-8F6C-F35A-0754-70BED18287B5}"/>
              </a:ext>
            </a:extLst>
          </p:cNvPr>
          <p:cNvSpPr/>
          <p:nvPr/>
        </p:nvSpPr>
        <p:spPr>
          <a:xfrm>
            <a:off x="12894199" y="7616865"/>
            <a:ext cx="1724628" cy="6127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18113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2CE6BA3-DB40-1C74-D7D8-F0888353627D}"/>
                  </a:ext>
                </a:extLst>
              </p:cNvPr>
              <p:cNvSpPr txBox="1"/>
              <p:nvPr/>
            </p:nvSpPr>
            <p:spPr>
              <a:xfrm>
                <a:off x="1400537" y="1168435"/>
                <a:ext cx="10764456" cy="5418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400" b="1" dirty="0"/>
                  <a:t>Why we used Decision Tree?</a:t>
                </a:r>
              </a:p>
              <a:p>
                <a:r>
                  <a:rPr lang="en-IN" sz="2400" dirty="0"/>
                  <a:t>Easy to interpret &amp; visualize</a:t>
                </a:r>
              </a:p>
              <a:p>
                <a:r>
                  <a:rPr lang="en-IN" sz="2400" dirty="0"/>
                  <a:t>Generates clear rules (suitable for Flex &amp; Ultrasonic sensor thresholds)</a:t>
                </a:r>
              </a:p>
              <a:p>
                <a:r>
                  <a:rPr lang="en-IN" sz="2400" dirty="0"/>
                  <a:t>Works well with numerical data</a:t>
                </a:r>
              </a:p>
              <a:p>
                <a:r>
                  <a:rPr lang="en-IN" sz="2400" dirty="0"/>
                  <a:t>Fast, lightweight &amp; ideal for IoT/real-time posture monitoring</a:t>
                </a:r>
              </a:p>
              <a:p>
                <a:r>
                  <a:rPr lang="en-IN" sz="2400" dirty="0"/>
                  <a:t>No need for feature scaling or complex preprocessing</a:t>
                </a:r>
              </a:p>
              <a:p>
                <a:br>
                  <a:rPr lang="en-IN" sz="2400" dirty="0"/>
                </a:br>
                <a:endParaRPr lang="en-IN" sz="2400" dirty="0"/>
              </a:p>
              <a:p>
                <a:r>
                  <a:rPr lang="en-IN" sz="2400" dirty="0"/>
                  <a:t>🔹 How it decides?</a:t>
                </a:r>
              </a:p>
              <a:p>
                <a:r>
                  <a:rPr lang="en-IN" sz="2400" dirty="0"/>
                  <a:t>It selects the best feature threshold that separates Good/Bad posture using Gini Impurity.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𝐺𝑖𝑛𝑖</m:t>
                      </m:r>
                      <m:r>
                        <a:rPr lang="en-IN" sz="2400" b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400" b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2400" b="0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grow m:val="on"/>
                          <m:subHide m:val="on"/>
                          <m:supHide m:val="on"/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Sup>
                            <m:sSubSup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ar-AE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ar-AE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ar-AE" sz="2400" b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ar-AE" sz="2400" dirty="0"/>
              </a:p>
              <a:p>
                <a:r>
                  <a:rPr lang="en-IN" sz="2400" dirty="0"/>
                  <a:t>Lower Gini = purer split → better posture decision.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2CE6BA3-DB40-1C74-D7D8-F088835362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0537" y="1168435"/>
                <a:ext cx="10764456" cy="5418663"/>
              </a:xfrm>
              <a:prstGeom prst="rect">
                <a:avLst/>
              </a:prstGeom>
              <a:blipFill>
                <a:blip r:embed="rId2"/>
                <a:stretch>
                  <a:fillRect l="-906" t="-900" b="-157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AAD7519E-FE21-4A28-AF13-9887BFC16E92}"/>
              </a:ext>
            </a:extLst>
          </p:cNvPr>
          <p:cNvSpPr/>
          <p:nvPr/>
        </p:nvSpPr>
        <p:spPr>
          <a:xfrm>
            <a:off x="12755301" y="7639291"/>
            <a:ext cx="1875099" cy="5903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3000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722376" y="689169"/>
            <a:ext cx="13267944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370"/>
              </a:lnSpc>
              <a:buNone/>
            </a:pPr>
            <a:r>
              <a:rPr lang="en-US" sz="3840" dirty="0">
                <a:solidFill>
                  <a:srgbClr val="3642C6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Results Obtained</a:t>
            </a:r>
            <a:endParaRPr lang="en-US" sz="384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EB8FAE4-3520-448D-455B-92FD62E832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1538273"/>
            <a:ext cx="7217857" cy="233714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350E345-4B57-547B-792E-3B6B754E748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61056"/>
          <a:stretch>
            <a:fillRect/>
          </a:stretch>
        </p:blipFill>
        <p:spPr>
          <a:xfrm>
            <a:off x="722376" y="4681769"/>
            <a:ext cx="3696891" cy="320496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3EF5097-DA63-62E1-D946-F8E26CD6E1F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30409" b="32901"/>
          <a:stretch>
            <a:fillRect/>
          </a:stretch>
        </p:blipFill>
        <p:spPr>
          <a:xfrm>
            <a:off x="4694755" y="4629683"/>
            <a:ext cx="4020982" cy="32841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6CFFCE0-96DA-4967-5F6E-67734B42650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0723" y="3449256"/>
            <a:ext cx="6933965" cy="17508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FFF1F84-4BF7-D8D7-F5C2-3CF5CE3FF7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6794" y="300866"/>
            <a:ext cx="11516811" cy="76278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994524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04172"/>
            <a:ext cx="14630400" cy="8238744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690372" y="937491"/>
            <a:ext cx="13267944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370"/>
              </a:lnSpc>
              <a:buNone/>
            </a:pPr>
            <a:r>
              <a:rPr lang="en-US" sz="3840" dirty="0">
                <a:solidFill>
                  <a:srgbClr val="3642C6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Conclusion</a:t>
            </a:r>
            <a:endParaRPr lang="en-US" sz="384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0C1B8C-770F-8383-41EA-076403F89E7D}"/>
              </a:ext>
            </a:extLst>
          </p:cNvPr>
          <p:cNvSpPr txBox="1"/>
          <p:nvPr/>
        </p:nvSpPr>
        <p:spPr>
          <a:xfrm>
            <a:off x="690372" y="1556801"/>
            <a:ext cx="1365066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endParaRPr lang="en-IN" sz="24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/>
              <a:t>The system successfully monitors sitting posture in real-time using ESP32 with flex and ultrasonic sensors.</a:t>
            </a:r>
          </a:p>
          <a:p>
            <a:pPr algn="just"/>
            <a:r>
              <a:rPr lang="en-US" sz="2400" dirty="0"/>
              <a:t>  It alerts users instantly through Blynk, ensuring immediate posture correction.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24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/>
              <a:t>Low-cost, privacy-safe and comfortable alternative to camera-based solutions.</a:t>
            </a:r>
          </a:p>
          <a:p>
            <a:pPr algn="just"/>
            <a:r>
              <a:rPr lang="en-US" sz="2400" dirty="0"/>
              <a:t>  Works without body-worn devices, making it user-friendly for daily use.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24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/>
              <a:t>Decision Tree algorithm helped determine thresholds for accurate classification.</a:t>
            </a:r>
          </a:p>
          <a:p>
            <a:pPr algn="just"/>
            <a:r>
              <a:rPr lang="en-US" sz="2400" dirty="0"/>
              <a:t>  Around 1000 test samples showed consistent and reliable performance.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24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/>
              <a:t>Portable, power-flexible and suitable for long study/office sessions.</a:t>
            </a:r>
          </a:p>
          <a:p>
            <a:pPr algn="just"/>
            <a:r>
              <a:rPr lang="en-US" sz="2400" dirty="0"/>
              <a:t>  Future refinement can lead to a commercial ergonomic product.</a:t>
            </a:r>
            <a:endParaRPr lang="en-IN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8735450-990E-92D7-6852-FB96D2B9477E}"/>
              </a:ext>
            </a:extLst>
          </p:cNvPr>
          <p:cNvSpPr txBox="1"/>
          <p:nvPr/>
        </p:nvSpPr>
        <p:spPr>
          <a:xfrm>
            <a:off x="734993" y="959321"/>
            <a:ext cx="11997160" cy="6452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200"/>
              </a:spcBef>
              <a:buNone/>
            </a:pPr>
            <a:r>
              <a:rPr lang="en-IN" sz="2800" b="1" spc="-10" dirty="0">
                <a:solidFill>
                  <a:srgbClr val="0070C0"/>
                </a:solidFill>
                <a:effectLst/>
                <a:latin typeface="思源黑体-思源黑体-SemiBold"/>
                <a:ea typeface="Times New Roman" panose="02020603050405020304" pitchFamily="18" charset="0"/>
              </a:rPr>
              <a:t>Future Scope</a:t>
            </a:r>
            <a:endParaRPr lang="en-IN" sz="2000" dirty="0">
              <a:solidFill>
                <a:srgbClr val="0070C0"/>
              </a:solidFill>
              <a:effectLst/>
              <a:latin typeface="思源黑体-思源黑体-SemiBold"/>
              <a:ea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1200"/>
              </a:spcBef>
              <a:buNone/>
            </a:pPr>
            <a:r>
              <a:rPr lang="en-IN" sz="1800" spc="-10" dirty="0">
                <a:effectLst/>
                <a:ea typeface="Times New Roman" panose="02020603050405020304" pitchFamily="18" charset="0"/>
              </a:rPr>
              <a:t>The current prototype focuses mainly on detecting forward slouching using flex and ultrasonic readings. There are several promising enhancements that could improve accuracy and functionality:</a:t>
            </a:r>
            <a:endParaRPr lang="en-IN" sz="1600" dirty="0">
              <a:effectLst/>
              <a:ea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Bef>
                <a:spcPts val="1200"/>
              </a:spcBef>
              <a:buFont typeface="+mj-lt"/>
              <a:buAutoNum type="arabicPeriod"/>
              <a:tabLst>
                <a:tab pos="457200" algn="l"/>
              </a:tabLst>
            </a:pPr>
            <a:r>
              <a:rPr lang="en-IN" sz="1800" spc="-10" dirty="0">
                <a:effectLst/>
                <a:ea typeface="Times New Roman" panose="02020603050405020304" pitchFamily="18" charset="0"/>
              </a:rPr>
              <a:t>Machine Learning Upgrade:</a:t>
            </a:r>
            <a:br>
              <a:rPr lang="en-IN" sz="1800" spc="-10" dirty="0">
                <a:effectLst/>
                <a:ea typeface="Times New Roman" panose="02020603050405020304" pitchFamily="18" charset="0"/>
              </a:rPr>
            </a:br>
            <a:r>
              <a:rPr lang="en-IN" sz="1800" spc="-10" dirty="0">
                <a:effectLst/>
                <a:ea typeface="Times New Roman" panose="02020603050405020304" pitchFamily="18" charset="0"/>
              </a:rPr>
              <a:t>Instead of fixed threshold detection, advanced ML/DL models can learn personal sitting patterns and adjust limits automatically for user-specific calibration.</a:t>
            </a:r>
            <a:endParaRPr lang="en-IN" sz="1600" dirty="0">
              <a:effectLst/>
              <a:ea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Bef>
                <a:spcPts val="1200"/>
              </a:spcBef>
              <a:buFont typeface="+mj-lt"/>
              <a:buAutoNum type="arabicPeriod"/>
              <a:tabLst>
                <a:tab pos="457200" algn="l"/>
              </a:tabLst>
            </a:pPr>
            <a:r>
              <a:rPr lang="en-IN" sz="1800" spc="-10" dirty="0">
                <a:effectLst/>
                <a:ea typeface="Times New Roman" panose="02020603050405020304" pitchFamily="18" charset="0"/>
              </a:rPr>
              <a:t>Additional Sensors (Future Integration):</a:t>
            </a:r>
            <a:br>
              <a:rPr lang="en-IN" sz="1800" spc="-10" dirty="0">
                <a:effectLst/>
                <a:ea typeface="Times New Roman" panose="02020603050405020304" pitchFamily="18" charset="0"/>
              </a:rPr>
            </a:br>
            <a:r>
              <a:rPr lang="en-IN" sz="1800" spc="-10" dirty="0">
                <a:effectLst/>
                <a:ea typeface="Times New Roman" panose="02020603050405020304" pitchFamily="18" charset="0"/>
              </a:rPr>
              <a:t>Adding MPU-6050 IMU, pressure sensors or stretch bands could help detect side bending, shoulder drop, twisting and neck tilt conditions for 360° posture analysis.</a:t>
            </a:r>
            <a:endParaRPr lang="en-IN" sz="1600" dirty="0">
              <a:effectLst/>
              <a:ea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Bef>
                <a:spcPts val="1200"/>
              </a:spcBef>
              <a:buFont typeface="+mj-lt"/>
              <a:buAutoNum type="arabicPeriod"/>
              <a:tabLst>
                <a:tab pos="457200" algn="l"/>
              </a:tabLst>
            </a:pPr>
            <a:r>
              <a:rPr lang="en-IN" sz="1800" spc="-10" dirty="0">
                <a:effectLst/>
                <a:ea typeface="Times New Roman" panose="02020603050405020304" pitchFamily="18" charset="0"/>
              </a:rPr>
              <a:t>Mobile Application Dashboard:</a:t>
            </a:r>
            <a:br>
              <a:rPr lang="en-IN" sz="1800" spc="-10" dirty="0">
                <a:effectLst/>
                <a:ea typeface="Times New Roman" panose="02020603050405020304" pitchFamily="18" charset="0"/>
              </a:rPr>
            </a:br>
            <a:r>
              <a:rPr lang="en-IN" sz="1800" spc="-10" dirty="0">
                <a:effectLst/>
                <a:ea typeface="Times New Roman" panose="02020603050405020304" pitchFamily="18" charset="0"/>
              </a:rPr>
              <a:t>An Android/iOS app with weekly posture analytics, graphs, calorie impact, and correction feedback can increase user engagement.</a:t>
            </a:r>
            <a:endParaRPr lang="en-IN" sz="1600" dirty="0">
              <a:effectLst/>
              <a:ea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Bef>
                <a:spcPts val="1200"/>
              </a:spcBef>
              <a:buFont typeface="+mj-lt"/>
              <a:buAutoNum type="arabicPeriod"/>
              <a:tabLst>
                <a:tab pos="457200" algn="l"/>
              </a:tabLst>
            </a:pPr>
            <a:r>
              <a:rPr lang="en-IN" sz="1800" spc="-10" dirty="0">
                <a:effectLst/>
                <a:ea typeface="Times New Roman" panose="02020603050405020304" pitchFamily="18" charset="0"/>
              </a:rPr>
              <a:t>Cloud Data Storage:</a:t>
            </a:r>
            <a:br>
              <a:rPr lang="en-IN" sz="1800" spc="-10" dirty="0">
                <a:effectLst/>
                <a:ea typeface="Times New Roman" panose="02020603050405020304" pitchFamily="18" charset="0"/>
              </a:rPr>
            </a:br>
            <a:r>
              <a:rPr lang="en-IN" sz="1800" spc="-10" dirty="0">
                <a:effectLst/>
                <a:ea typeface="Times New Roman" panose="02020603050405020304" pitchFamily="18" charset="0"/>
              </a:rPr>
              <a:t>Firebase/</a:t>
            </a:r>
            <a:r>
              <a:rPr lang="en-IN" sz="1800" spc="-10" dirty="0" err="1">
                <a:effectLst/>
                <a:ea typeface="Times New Roman" panose="02020603050405020304" pitchFamily="18" charset="0"/>
              </a:rPr>
              <a:t>Thingspeak</a:t>
            </a:r>
            <a:r>
              <a:rPr lang="en-IN" sz="1800" spc="-10" dirty="0">
                <a:effectLst/>
                <a:ea typeface="Times New Roman" panose="02020603050405020304" pitchFamily="18" charset="0"/>
              </a:rPr>
              <a:t> cloud integration could store long-term posture logs for progress monitoring and health assessment.</a:t>
            </a:r>
            <a:endParaRPr lang="en-IN" sz="1600" dirty="0">
              <a:effectLst/>
              <a:ea typeface="Times New Roman" panose="02020603050405020304" pitchFamily="18" charset="0"/>
            </a:endParaRPr>
          </a:p>
          <a:p>
            <a:pPr>
              <a:buNone/>
            </a:pPr>
            <a:br>
              <a:rPr lang="en-US" sz="2800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en-IN" dirty="0">
              <a:effectLst/>
            </a:endParaRPr>
          </a:p>
          <a:p>
            <a:pPr>
              <a:buNone/>
            </a:pP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47300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088F7-E907-F7EF-147B-C3527F8BD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BAD4ACE1-0B85-655C-8E96-942AF6FBA1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sp>
        <p:nvSpPr>
          <p:cNvPr id="14" name="Text 0">
            <a:extLst>
              <a:ext uri="{FF2B5EF4-FFF2-40B4-BE49-F238E27FC236}">
                <a16:creationId xmlns:a16="http://schemas.microsoft.com/office/drawing/2014/main" id="{7866990D-D60E-3897-4EE5-C987F72D0AE7}"/>
              </a:ext>
            </a:extLst>
          </p:cNvPr>
          <p:cNvSpPr/>
          <p:nvPr/>
        </p:nvSpPr>
        <p:spPr>
          <a:xfrm>
            <a:off x="1022391" y="1288462"/>
            <a:ext cx="10094789" cy="14175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</a:rPr>
              <a:t>REFERENCES</a:t>
            </a:r>
            <a:endParaRPr lang="en-US" sz="445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4BC672A-AED8-2DF4-8E95-200E06831BB5}"/>
              </a:ext>
            </a:extLst>
          </p:cNvPr>
          <p:cNvSpPr txBox="1"/>
          <p:nvPr/>
        </p:nvSpPr>
        <p:spPr>
          <a:xfrm>
            <a:off x="998326" y="2207548"/>
            <a:ext cx="10563726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/>
              <a:t>Reference 1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dirty="0"/>
              <a:t>L. E. Dunne et al., “Wearable monitoring of seated spinal posture,” IEEE Transactions on Biomedical Circuits and Systems, vol. 2, no. 2, pp. 97–105, 2008.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dirty="0"/>
              <a:t>What this paper did: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Developed a wearable vest with accelerometers to track spinal posture.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Could detect bending and spinal curvature with good accuracy.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Main focus: continuous posture monitoring in daily life.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buNone/>
            </a:pPr>
            <a:r>
              <a:rPr lang="en-US" sz="2400" dirty="0"/>
              <a:t>Limitations: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Intrusive (users must wear a vest).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Not comfortable for long-term use.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High cost → less suitable for everyday application.</a:t>
            </a:r>
          </a:p>
        </p:txBody>
      </p:sp>
    </p:spTree>
    <p:extLst>
      <p:ext uri="{BB962C8B-B14F-4D97-AF65-F5344CB8AC3E}">
        <p14:creationId xmlns:p14="http://schemas.microsoft.com/office/powerpoint/2010/main" val="40897350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362A1-BCB8-1460-C4A8-4940BE1DA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76F45C-F75C-F2F6-317F-3FDBB286CC10}"/>
              </a:ext>
            </a:extLst>
          </p:cNvPr>
          <p:cNvSpPr txBox="1"/>
          <p:nvPr/>
        </p:nvSpPr>
        <p:spPr>
          <a:xfrm>
            <a:off x="938463" y="929312"/>
            <a:ext cx="116586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/>
              <a:t>Reference 2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dirty="0"/>
              <a:t>H. Jeong and W. Park, “Developing and evaluating a mixed sensor smart chair system for real-time posture classification: Combining pressure and distance sensors,” IEEE Journal of Biomedical and Health Informatics, vol. 25, no. 5, pp. 1805–1813, 2020.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dirty="0"/>
              <a:t>What this paper did: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Designed a smart chair with pressure sensors + ultrasonic distance sensors.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Achieved real-time posture classification (sitting upright, leaning, slouching).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Showed high accuracy in posture detection.</a:t>
            </a:r>
          </a:p>
          <a:p>
            <a:endParaRPr lang="en-US" sz="2400" dirty="0"/>
          </a:p>
          <a:p>
            <a:pPr>
              <a:buNone/>
            </a:pPr>
            <a:r>
              <a:rPr lang="en-US" sz="2400" dirty="0"/>
              <a:t>Limitations: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High implementation cost due to multiple pressure sensors.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System complexity makes it hard to scale or deploy widely.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Limited to fixed chair design.</a:t>
            </a:r>
          </a:p>
        </p:txBody>
      </p:sp>
    </p:spTree>
    <p:extLst>
      <p:ext uri="{BB962C8B-B14F-4D97-AF65-F5344CB8AC3E}">
        <p14:creationId xmlns:p14="http://schemas.microsoft.com/office/powerpoint/2010/main" val="4543893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</TotalTime>
  <Words>1126</Words>
  <Application>Microsoft Office PowerPoint</Application>
  <PresentationFormat>Custom</PresentationFormat>
  <Paragraphs>149</Paragraphs>
  <Slides>15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Cambria Math</vt:lpstr>
      <vt:lpstr>Open Sans</vt:lpstr>
      <vt:lpstr>Playfair Display Bold</vt:lpstr>
      <vt:lpstr>Playfair Display Light</vt:lpstr>
      <vt:lpstr>Times New Roman</vt:lpstr>
      <vt:lpstr>思源黑体-思源黑体-SemiBold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Het Virani</cp:lastModifiedBy>
  <cp:revision>18</cp:revision>
  <dcterms:created xsi:type="dcterms:W3CDTF">2025-09-26T08:20:38Z</dcterms:created>
  <dcterms:modified xsi:type="dcterms:W3CDTF">2025-12-09T09:01:52Z</dcterms:modified>
</cp:coreProperties>
</file>